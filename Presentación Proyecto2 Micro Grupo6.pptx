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Open Sauce Bold" panose="020B0604020202020204" charset="0"/>
      <p:regular r:id="rId14"/>
    </p:embeddedFont>
    <p:embeddedFont>
      <p:font typeface="Open Sauce Light" panose="020B0604020202020204" charset="0"/>
      <p:regular r:id="rId15"/>
    </p:embeddedFont>
    <p:embeddedFont>
      <p:font typeface="Telegraf" panose="020B0604020202020204" charset="0"/>
      <p:regular r:id="rId16"/>
    </p:embeddedFont>
    <p:embeddedFont>
      <p:font typeface="Telegraf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75161" y="0"/>
            <a:ext cx="3012839" cy="10287000"/>
            <a:chOff x="0" y="0"/>
            <a:chExt cx="79350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3505" cy="2709333"/>
            </a:xfrm>
            <a:custGeom>
              <a:avLst/>
              <a:gdLst/>
              <a:ahLst/>
              <a:cxnLst/>
              <a:rect l="l" t="t" r="r" b="b"/>
              <a:pathLst>
                <a:path w="793505" h="2709333">
                  <a:moveTo>
                    <a:pt x="0" y="0"/>
                  </a:moveTo>
                  <a:lnTo>
                    <a:pt x="793505" y="0"/>
                  </a:lnTo>
                  <a:lnTo>
                    <a:pt x="7935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93505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88341" y="3436282"/>
            <a:ext cx="9770959" cy="6402117"/>
            <a:chOff x="0" y="0"/>
            <a:chExt cx="1240501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0502" cy="812800"/>
            </a:xfrm>
            <a:custGeom>
              <a:avLst/>
              <a:gdLst/>
              <a:ahLst/>
              <a:cxnLst/>
              <a:rect l="l" t="t" r="r" b="b"/>
              <a:pathLst>
                <a:path w="1240502" h="812800">
                  <a:moveTo>
                    <a:pt x="0" y="0"/>
                  </a:moveTo>
                  <a:lnTo>
                    <a:pt x="1240502" y="0"/>
                  </a:lnTo>
                  <a:lnTo>
                    <a:pt x="124050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835" r="-835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7" name="Freeform 7"/>
          <p:cNvSpPr/>
          <p:nvPr/>
        </p:nvSpPr>
        <p:spPr>
          <a:xfrm>
            <a:off x="1296098" y="7654442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8" name="Freeform 8"/>
          <p:cNvSpPr/>
          <p:nvPr/>
        </p:nvSpPr>
        <p:spPr>
          <a:xfrm flipH="1" flipV="1">
            <a:off x="17637125" y="1028700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261221" y="261221"/>
                </a:moveTo>
                <a:lnTo>
                  <a:pt x="0" y="261221"/>
                </a:lnTo>
                <a:lnTo>
                  <a:pt x="0" y="0"/>
                </a:lnTo>
                <a:lnTo>
                  <a:pt x="261221" y="0"/>
                </a:lnTo>
                <a:lnTo>
                  <a:pt x="261221" y="26122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9" name="TextBox 9"/>
          <p:cNvSpPr txBox="1"/>
          <p:nvPr/>
        </p:nvSpPr>
        <p:spPr>
          <a:xfrm>
            <a:off x="7852912" y="1398417"/>
            <a:ext cx="8301488" cy="12078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938"/>
              </a:lnSpc>
            </a:pPr>
            <a:r>
              <a:rPr lang="en-US" sz="10393" b="1" spc="-62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PROYECTO 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178227"/>
            <a:ext cx="6824212" cy="1364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938"/>
              </a:lnSpc>
            </a:pPr>
            <a:r>
              <a:rPr lang="en-US" sz="10393" b="1" spc="-62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CC3086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997254"/>
            <a:ext cx="11962298" cy="1364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938"/>
              </a:lnSpc>
            </a:pPr>
            <a:r>
              <a:rPr lang="en-US" sz="10393" spc="-623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LUMINES PTHREADS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6098" y="5229225"/>
            <a:ext cx="3588974" cy="1241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3599" b="1" spc="-107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UNIVERSIDAD DEL VALLE DE GUATEMALA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6098" y="6446596"/>
            <a:ext cx="3141841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-6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HUGO CARRILO 241499</a:t>
            </a:r>
          </a:p>
          <a:p>
            <a:pPr algn="l">
              <a:lnSpc>
                <a:spcPts val="2400"/>
              </a:lnSpc>
            </a:pPr>
            <a:r>
              <a:rPr lang="en-US" sz="2000" spc="-6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REYNALDO PELLECER </a:t>
            </a:r>
          </a:p>
          <a:p>
            <a:pPr marL="0" lvl="1" indent="0" algn="l">
              <a:lnSpc>
                <a:spcPts val="2400"/>
              </a:lnSpc>
            </a:pPr>
            <a:r>
              <a:rPr lang="en-US" sz="2000" spc="-6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RONALD CATÚN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64524" y="0"/>
            <a:ext cx="5423476" cy="10287000"/>
            <a:chOff x="0" y="0"/>
            <a:chExt cx="142840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8405" cy="2709333"/>
            </a:xfrm>
            <a:custGeom>
              <a:avLst/>
              <a:gdLst/>
              <a:ahLst/>
              <a:cxnLst/>
              <a:rect l="l" t="t" r="r" b="b"/>
              <a:pathLst>
                <a:path w="1428405" h="2709333">
                  <a:moveTo>
                    <a:pt x="0" y="0"/>
                  </a:moveTo>
                  <a:lnTo>
                    <a:pt x="1428405" y="0"/>
                  </a:lnTo>
                  <a:lnTo>
                    <a:pt x="14284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28405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69748" y="1028700"/>
            <a:ext cx="8789552" cy="8229600"/>
            <a:chOff x="0" y="0"/>
            <a:chExt cx="1361732" cy="12749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1732" cy="1274980"/>
            </a:xfrm>
            <a:custGeom>
              <a:avLst/>
              <a:gdLst/>
              <a:ahLst/>
              <a:cxnLst/>
              <a:rect l="l" t="t" r="r" b="b"/>
              <a:pathLst>
                <a:path w="1361732" h="1274980">
                  <a:moveTo>
                    <a:pt x="0" y="0"/>
                  </a:moveTo>
                  <a:lnTo>
                    <a:pt x="1361732" y="0"/>
                  </a:lnTo>
                  <a:lnTo>
                    <a:pt x="1361732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20003" r="-20003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7" name="Freeform 7"/>
          <p:cNvSpPr/>
          <p:nvPr/>
        </p:nvSpPr>
        <p:spPr>
          <a:xfrm>
            <a:off x="7179826" y="8997079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2" y="0"/>
                </a:lnTo>
                <a:lnTo>
                  <a:pt x="261222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8" name="TextBox 8"/>
          <p:cNvSpPr txBox="1"/>
          <p:nvPr/>
        </p:nvSpPr>
        <p:spPr>
          <a:xfrm>
            <a:off x="1028700" y="2012087"/>
            <a:ext cx="7441048" cy="1268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93"/>
              </a:lnSpc>
            </a:pPr>
            <a:r>
              <a:rPr lang="en-US" sz="9759" b="1" spc="-585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LUMINES?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009715"/>
            <a:ext cx="7441048" cy="1268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93"/>
              </a:lnSpc>
            </a:pPr>
            <a:r>
              <a:rPr lang="en-US" sz="9759" spc="-58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¿QUÉ 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7479" y="4007597"/>
            <a:ext cx="6412348" cy="428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279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JUEGO DE PUZZLE CON BLOQUES 2X2</a:t>
            </a:r>
          </a:p>
          <a:p>
            <a:pPr marL="604518" lvl="1" indent="-302259" algn="l">
              <a:lnSpc>
                <a:spcPts val="279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EL JUGADOR APILA BLOQUES DE DOS COLORES</a:t>
            </a:r>
          </a:p>
          <a:p>
            <a:pPr marL="604518" lvl="1" indent="-302259" algn="l">
              <a:lnSpc>
                <a:spcPts val="279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UNA LÍNEA DE TIEMPO BARRE EL TABLERO Y ELIMINA CUADRADOS 2X2 DEL MISMO COLOR</a:t>
            </a:r>
          </a:p>
          <a:p>
            <a:pPr marL="604518" lvl="1" indent="-302259" algn="l">
              <a:lnSpc>
                <a:spcPts val="279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OBJETIVO: ALCANZAR 50 PUNTOS ANTES DE PERDER LAS 3 VIDAS</a:t>
            </a:r>
          </a:p>
          <a:p>
            <a:pPr algn="l">
              <a:lnSpc>
                <a:spcPts val="2799"/>
              </a:lnSpc>
            </a:pPr>
            <a:endParaRPr lang="en-US" sz="2799" b="1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557560" cy="10287000"/>
            <a:chOff x="0" y="0"/>
            <a:chExt cx="146371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719" cy="2709333"/>
            </a:xfrm>
            <a:custGeom>
              <a:avLst/>
              <a:gdLst/>
              <a:ahLst/>
              <a:cxnLst/>
              <a:rect l="l" t="t" r="r" b="b"/>
              <a:pathLst>
                <a:path w="1463719" h="2709333">
                  <a:moveTo>
                    <a:pt x="0" y="0"/>
                  </a:moveTo>
                  <a:lnTo>
                    <a:pt x="1463719" y="0"/>
                  </a:lnTo>
                  <a:lnTo>
                    <a:pt x="146371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719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620008"/>
            <a:ext cx="7761694" cy="5638292"/>
            <a:chOff x="0" y="0"/>
            <a:chExt cx="1202490" cy="8735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2490" cy="873519"/>
            </a:xfrm>
            <a:custGeom>
              <a:avLst/>
              <a:gdLst/>
              <a:ahLst/>
              <a:cxnLst/>
              <a:rect l="l" t="t" r="r" b="b"/>
              <a:pathLst>
                <a:path w="1202490" h="873519">
                  <a:moveTo>
                    <a:pt x="0" y="0"/>
                  </a:moveTo>
                  <a:lnTo>
                    <a:pt x="1202490" y="0"/>
                  </a:lnTo>
                  <a:lnTo>
                    <a:pt x="1202490" y="873519"/>
                  </a:lnTo>
                  <a:lnTo>
                    <a:pt x="0" y="873519"/>
                  </a:lnTo>
                  <a:close/>
                </a:path>
              </a:pathLst>
            </a:custGeom>
            <a:blipFill>
              <a:blip r:embed="rId2"/>
              <a:stretch>
                <a:fillRect l="-4515" r="-4515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7" name="Freeform 7"/>
          <p:cNvSpPr/>
          <p:nvPr/>
        </p:nvSpPr>
        <p:spPr>
          <a:xfrm>
            <a:off x="7500473" y="1028700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8" name="TextBox 8"/>
          <p:cNvSpPr txBox="1"/>
          <p:nvPr/>
        </p:nvSpPr>
        <p:spPr>
          <a:xfrm>
            <a:off x="8482272" y="2558529"/>
            <a:ext cx="8586527" cy="1313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658"/>
              </a:lnSpc>
            </a:pPr>
            <a:r>
              <a:rPr lang="en-US" sz="11231" b="1" spc="-673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LOS 8 HILOS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2273" y="700705"/>
            <a:ext cx="8468906" cy="1871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735"/>
              </a:lnSpc>
            </a:pPr>
            <a:r>
              <a:rPr lang="en-US" sz="7832" spc="-46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ARQUITECTURA DEL SISTEMA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82273" y="4034098"/>
            <a:ext cx="8777027" cy="555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25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INPUTTHREAD → CAPTURA TECLAS DEL TECLADO</a:t>
            </a:r>
          </a:p>
          <a:p>
            <a:pPr marL="561339" lvl="1" indent="-280669" algn="l">
              <a:lnSpc>
                <a:spcPts val="25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playerThread → procesa los comandos del jugador</a:t>
            </a:r>
          </a:p>
          <a:p>
            <a:pPr marL="561339" lvl="1" indent="-280669" algn="l">
              <a:lnSpc>
                <a:spcPts val="25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gravityThread → controla la caída automática del bloque</a:t>
            </a:r>
          </a:p>
          <a:p>
            <a:pPr marL="561339" lvl="1" indent="-280669" algn="l">
              <a:lnSpc>
                <a:spcPts val="25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timelineThread → mueve la línea de tiempo columna por columna</a:t>
            </a:r>
          </a:p>
          <a:p>
            <a:pPr marL="561339" lvl="1" indent="-280669" algn="l">
              <a:lnSpc>
                <a:spcPts val="25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detectorThread → detecta cuadrados 2x2 del mismo color</a:t>
            </a:r>
          </a:p>
          <a:p>
            <a:pPr marL="561339" lvl="1" indent="-280669" algn="l">
              <a:lnSpc>
                <a:spcPts val="25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specialThread → activa bloques especiales y marca regiones conectadas</a:t>
            </a:r>
          </a:p>
          <a:p>
            <a:pPr marL="561339" lvl="1" indent="-280669" algn="l">
              <a:lnSpc>
                <a:spcPts val="25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scoreThread → calcula puntos, bonos y condición de victoria</a:t>
            </a:r>
          </a:p>
          <a:p>
            <a:pPr marL="561339" lvl="1" indent="-280669" algn="l">
              <a:lnSpc>
                <a:spcPts val="259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rendererThread → dibuja el juego en consola en tiempo real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1" indent="0" algn="l">
              <a:lnSpc>
                <a:spcPts val="259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557560" cy="2572423"/>
            <a:chOff x="0" y="0"/>
            <a:chExt cx="861011" cy="3985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1011" cy="398536"/>
            </a:xfrm>
            <a:custGeom>
              <a:avLst/>
              <a:gdLst/>
              <a:ahLst/>
              <a:cxnLst/>
              <a:rect l="l" t="t" r="r" b="b"/>
              <a:pathLst>
                <a:path w="861011" h="398536">
                  <a:moveTo>
                    <a:pt x="0" y="0"/>
                  </a:moveTo>
                  <a:lnTo>
                    <a:pt x="861011" y="0"/>
                  </a:lnTo>
                  <a:lnTo>
                    <a:pt x="861011" y="398536"/>
                  </a:lnTo>
                  <a:lnTo>
                    <a:pt x="0" y="398536"/>
                  </a:lnTo>
                  <a:close/>
                </a:path>
              </a:pathLst>
            </a:custGeom>
            <a:blipFill>
              <a:blip r:embed="rId4"/>
              <a:stretch>
                <a:fillRect t="-31016" b="-31016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47267" y="181404"/>
            <a:ext cx="4505351" cy="4433856"/>
            <a:chOff x="0" y="0"/>
            <a:chExt cx="697997" cy="6869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7997" cy="686920"/>
            </a:xfrm>
            <a:custGeom>
              <a:avLst/>
              <a:gdLst/>
              <a:ahLst/>
              <a:cxnLst/>
              <a:rect l="l" t="t" r="r" b="b"/>
              <a:pathLst>
                <a:path w="697997" h="686920">
                  <a:moveTo>
                    <a:pt x="0" y="0"/>
                  </a:moveTo>
                  <a:lnTo>
                    <a:pt x="697997" y="0"/>
                  </a:lnTo>
                  <a:lnTo>
                    <a:pt x="697997" y="686920"/>
                  </a:lnTo>
                  <a:lnTo>
                    <a:pt x="0" y="686920"/>
                  </a:lnTo>
                  <a:close/>
                </a:path>
              </a:pathLst>
            </a:custGeom>
            <a:blipFill>
              <a:blip r:embed="rId2"/>
              <a:stretch>
                <a:fillRect l="-23809" r="-23809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7" name="Freeform 7"/>
          <p:cNvSpPr/>
          <p:nvPr/>
        </p:nvSpPr>
        <p:spPr>
          <a:xfrm>
            <a:off x="16998079" y="3060607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8" name="Group 8"/>
          <p:cNvGrpSpPr/>
          <p:nvPr/>
        </p:nvGrpSpPr>
        <p:grpSpPr>
          <a:xfrm>
            <a:off x="-260556" y="-180176"/>
            <a:ext cx="19310555" cy="10962475"/>
            <a:chOff x="0" y="0"/>
            <a:chExt cx="697997" cy="5278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997" cy="527883"/>
            </a:xfrm>
            <a:custGeom>
              <a:avLst/>
              <a:gdLst/>
              <a:ahLst/>
              <a:cxnLst/>
              <a:rect l="l" t="t" r="r" b="b"/>
              <a:pathLst>
                <a:path w="697997" h="527883">
                  <a:moveTo>
                    <a:pt x="0" y="0"/>
                  </a:moveTo>
                  <a:lnTo>
                    <a:pt x="697997" y="0"/>
                  </a:lnTo>
                  <a:lnTo>
                    <a:pt x="697997" y="527883"/>
                  </a:lnTo>
                  <a:lnTo>
                    <a:pt x="0" y="527883"/>
                  </a:lnTo>
                  <a:close/>
                </a:path>
              </a:pathLst>
            </a:custGeom>
            <a:blipFill>
              <a:blip r:embed="rId4"/>
              <a:stretch>
                <a:fillRect l="-7185" r="-7185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4740437" y="0"/>
            <a:ext cx="10828923" cy="3321828"/>
            <a:chOff x="0" y="0"/>
            <a:chExt cx="1728461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8461" cy="2709333"/>
            </a:xfrm>
            <a:custGeom>
              <a:avLst/>
              <a:gdLst/>
              <a:ahLst/>
              <a:cxnLst/>
              <a:rect l="l" t="t" r="r" b="b"/>
              <a:pathLst>
                <a:path w="1728461" h="2709333">
                  <a:moveTo>
                    <a:pt x="0" y="0"/>
                  </a:moveTo>
                  <a:lnTo>
                    <a:pt x="1728461" y="0"/>
                  </a:lnTo>
                  <a:lnTo>
                    <a:pt x="172846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28461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852618" y="446055"/>
            <a:ext cx="9667849" cy="1214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070"/>
              </a:lnSpc>
            </a:pPr>
            <a:r>
              <a:rPr lang="en-US" sz="9384" spc="-563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MECANISMOS DE</a:t>
            </a:r>
          </a:p>
        </p:txBody>
      </p:sp>
      <p:graphicFrame>
        <p:nvGraphicFramePr>
          <p:cNvPr id="13" name="Tabla 12">
            <a:extLst>
              <a:ext uri="{FF2B5EF4-FFF2-40B4-BE49-F238E27FC236}">
                <a16:creationId xmlns:a16="http://schemas.microsoft.com/office/drawing/2014/main" id="{A3B01A32-8A69-A1D0-3AEA-AC177EAB2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544453"/>
              </p:ext>
            </p:extLst>
          </p:nvPr>
        </p:nvGraphicFramePr>
        <p:xfrm>
          <a:off x="685800" y="5144728"/>
          <a:ext cx="16840200" cy="387298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8420100">
                  <a:extLst>
                    <a:ext uri="{9D8B030D-6E8A-4147-A177-3AD203B41FA5}">
                      <a16:colId xmlns:a16="http://schemas.microsoft.com/office/drawing/2014/main" val="347095628"/>
                    </a:ext>
                  </a:extLst>
                </a:gridCol>
                <a:gridCol w="8420100">
                  <a:extLst>
                    <a:ext uri="{9D8B030D-6E8A-4147-A177-3AD203B41FA5}">
                      <a16:colId xmlns:a16="http://schemas.microsoft.com/office/drawing/2014/main" val="254546061"/>
                    </a:ext>
                  </a:extLst>
                </a:gridCol>
              </a:tblGrid>
              <a:tr h="45394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sym typeface="Telegraf"/>
                        </a:rPr>
                        <a:t>PTHR</a:t>
                      </a:r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EAD_MUTEX_T STATEMUTEX 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PROTEGE EL TABLERO, PIEZAS, PUNTAJE Y COMANDOS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690859"/>
                  </a:ext>
                </a:extLst>
              </a:tr>
              <a:tr h="453949"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SEM_T COMMANDSEM 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DESPIERTA AL HILO JUGADOR CUANDO HAY UNA TECLA NUEVA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620475"/>
                  </a:ext>
                </a:extLst>
              </a:tr>
              <a:tr h="783528"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SEM_T SCORESEM 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DESPIERTA AL HILO DE PUNTAJE CUANDO HAY PUNTOS PENDIENTES</a:t>
                      </a:r>
                      <a:endParaRPr lang="en-US" sz="1800" u="none" strike="noStrike" dirty="0">
                        <a:solidFill>
                          <a:srgbClr val="000000"/>
                        </a:solidFill>
                        <a:latin typeface="Telegraf"/>
                        <a:ea typeface="Telegraf"/>
                        <a:cs typeface="Telegraf"/>
                        <a:sym typeface="Telegraf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152273"/>
                  </a:ext>
                </a:extLst>
              </a:tr>
              <a:tr h="453949"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PTHREAD_COND_T REDRAWCOND 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NOTIFICA AL RENDERER CUÁNDO REDIBUJAR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472954"/>
                  </a:ext>
                </a:extLst>
              </a:tr>
              <a:tr h="453949"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BARRERA DE ARRANQUE PROPIA </a:t>
                      </a:r>
                      <a:endParaRPr lang="es-G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TODOS LOS HILOS INICIAN AL MISMO TIEMPO</a:t>
                      </a:r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011740"/>
                  </a:ext>
                </a:extLst>
              </a:tr>
              <a:tr h="4539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CÓDIGO SECUENCIAL: ~15% (INICIALIZACIÓN, MENÚ, LECTURA DE PUNTAJES)</a:t>
                      </a:r>
                      <a:endParaRPr lang="en-US" sz="1800" u="none" strike="noStrike" dirty="0">
                        <a:solidFill>
                          <a:srgbClr val="000000"/>
                        </a:solidFill>
                        <a:latin typeface="Telegraf"/>
                        <a:ea typeface="Telegraf"/>
                        <a:cs typeface="Telegraf"/>
                        <a:sym typeface="Telegraf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193335"/>
                  </a:ext>
                </a:extLst>
              </a:tr>
              <a:tr h="14589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CÓDIGO PARALELO: ~85% (LOS 8 HILOS CORRIENDO SIMULTÁNEAMENTE DURANTE EL JUEGO)</a:t>
                      </a:r>
                      <a:endParaRPr lang="en-US" sz="1800" u="none" strike="noStrike" dirty="0">
                        <a:solidFill>
                          <a:srgbClr val="000000"/>
                        </a:solidFill>
                        <a:latin typeface="Telegraf"/>
                        <a:ea typeface="Telegraf"/>
                        <a:cs typeface="Telegraf"/>
                        <a:sym typeface="Telegraf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29461"/>
                  </a:ext>
                </a:extLst>
              </a:tr>
              <a:tr h="45394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solidFill>
                            <a:srgbClr val="000000"/>
                          </a:solidFill>
                          <a:sym typeface="Telegraf"/>
                        </a:rPr>
                        <a:t>ESTIMACIÓN BASADA EN CONTEO DE LÍNEAS ACTIVAS POR HILO VS LÍNEAS DE SETUP</a:t>
                      </a:r>
                      <a:endParaRPr lang="en-US" sz="1800" u="none" strike="noStrike" dirty="0">
                        <a:solidFill>
                          <a:srgbClr val="000000"/>
                        </a:solidFill>
                        <a:latin typeface="Telegraf"/>
                        <a:ea typeface="Telegraf"/>
                        <a:cs typeface="Telegraf"/>
                        <a:sym typeface="Telegraf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G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895584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5181600" y="1681808"/>
            <a:ext cx="10387760" cy="1155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640"/>
              </a:lnSpc>
            </a:pPr>
            <a:r>
              <a:rPr lang="en-US" sz="8884" b="1" spc="-533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SINCRONIZACIÓN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01127" y="3385940"/>
            <a:ext cx="9815448" cy="6901060"/>
            <a:chOff x="0" y="0"/>
            <a:chExt cx="2585138" cy="18175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85139" cy="1817563"/>
            </a:xfrm>
            <a:custGeom>
              <a:avLst/>
              <a:gdLst/>
              <a:ahLst/>
              <a:cxnLst/>
              <a:rect l="l" t="t" r="r" b="b"/>
              <a:pathLst>
                <a:path w="2585139" h="1817563">
                  <a:moveTo>
                    <a:pt x="0" y="0"/>
                  </a:moveTo>
                  <a:lnTo>
                    <a:pt x="2585139" y="0"/>
                  </a:lnTo>
                  <a:lnTo>
                    <a:pt x="2585139" y="1817563"/>
                  </a:lnTo>
                  <a:lnTo>
                    <a:pt x="0" y="181756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585138" cy="1846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6" name="Group 6"/>
          <p:cNvGrpSpPr/>
          <p:nvPr/>
        </p:nvGrpSpPr>
        <p:grpSpPr>
          <a:xfrm>
            <a:off x="7931997" y="2560183"/>
            <a:ext cx="8907543" cy="5758807"/>
            <a:chOff x="0" y="0"/>
            <a:chExt cx="1972100" cy="12749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72100" cy="1274980"/>
            </a:xfrm>
            <a:custGeom>
              <a:avLst/>
              <a:gdLst/>
              <a:ahLst/>
              <a:cxnLst/>
              <a:rect l="l" t="t" r="r" b="b"/>
              <a:pathLst>
                <a:path w="1972100" h="1274980">
                  <a:moveTo>
                    <a:pt x="0" y="0"/>
                  </a:moveTo>
                  <a:lnTo>
                    <a:pt x="1972100" y="0"/>
                  </a:lnTo>
                  <a:lnTo>
                    <a:pt x="1972100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3"/>
              <a:stretch>
                <a:fillRect l="-7467" r="-7467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475858"/>
            <a:ext cx="7472427" cy="91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42"/>
              </a:lnSpc>
            </a:pPr>
            <a:r>
              <a:rPr lang="en-US" sz="6910" b="1" spc="-414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JUEGO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650100"/>
            <a:ext cx="7472427" cy="91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42"/>
              </a:lnSpc>
            </a:pPr>
            <a:r>
              <a:rPr lang="en-US" sz="6910" spc="-414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FLUJO 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7753" y="4061950"/>
            <a:ext cx="7497484" cy="4257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259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BL</a:t>
            </a:r>
            <a:r>
              <a:rPr lang="en-US" sz="2599" b="1" u="none" strike="noStrik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OQUE APARECE EN LA PARTE SUPERIOR DEL TABLERO</a:t>
            </a:r>
          </a:p>
          <a:p>
            <a:pPr marL="561339" lvl="1" indent="-280669" algn="l">
              <a:lnSpc>
                <a:spcPts val="259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 u="none" strike="noStrik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EL JUGADOR LO MUEVE CON A/D Y LO ROTA CON W</a:t>
            </a:r>
          </a:p>
          <a:p>
            <a:pPr marL="561339" lvl="1" indent="-280669" algn="l">
              <a:lnSpc>
                <a:spcPts val="259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 u="none" strike="noStrik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EL BLOQUE CAE AUTOMÁTICAMENTE (GRAVITYTHREAD)</a:t>
            </a:r>
          </a:p>
          <a:p>
            <a:pPr marL="561339" lvl="1" indent="-280669" algn="l">
              <a:lnSpc>
                <a:spcPts val="259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 u="none" strike="noStrik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AL ATERRIZAR, EL DETECTORTHREAD BUSCA CUADRADOS 2X2</a:t>
            </a:r>
          </a:p>
          <a:p>
            <a:pPr marL="561339" lvl="1" indent="-280669" algn="l">
              <a:lnSpc>
                <a:spcPts val="259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 u="none" strike="noStrik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LA LÍNEA DE TIEMPO ELIMINA LAS CELDAS MARCADAS</a:t>
            </a:r>
          </a:p>
          <a:p>
            <a:pPr marL="561339" lvl="1" indent="-280669" algn="l">
              <a:lnSpc>
                <a:spcPts val="2599"/>
              </a:lnSpc>
              <a:spcBef>
                <a:spcPct val="0"/>
              </a:spcBef>
              <a:buFont typeface="Arial"/>
              <a:buChar char="•"/>
            </a:pPr>
            <a:r>
              <a:rPr lang="en-US" sz="2599" b="1" u="none" strike="noStrik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EL SCORETHREAD SUMA PUNTOS Y VERIFICA VICTORIA</a:t>
            </a:r>
          </a:p>
          <a:p>
            <a:pPr marL="0" lvl="1" indent="0" algn="l">
              <a:lnSpc>
                <a:spcPts val="2599"/>
              </a:lnSpc>
              <a:spcBef>
                <a:spcPct val="0"/>
              </a:spcBef>
            </a:pPr>
            <a:endParaRPr lang="en-US" sz="2599" b="1" u="none" strike="noStrike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83115" y="0"/>
            <a:ext cx="2004885" cy="10287000"/>
            <a:chOff x="0" y="0"/>
            <a:chExt cx="5280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8036" cy="2709333"/>
            </a:xfrm>
            <a:custGeom>
              <a:avLst/>
              <a:gdLst/>
              <a:ahLst/>
              <a:cxnLst/>
              <a:rect l="l" t="t" r="r" b="b"/>
              <a:pathLst>
                <a:path w="528036" h="2709333">
                  <a:moveTo>
                    <a:pt x="0" y="0"/>
                  </a:moveTo>
                  <a:lnTo>
                    <a:pt x="528036" y="0"/>
                  </a:lnTo>
                  <a:lnTo>
                    <a:pt x="5280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280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345847" y="6028753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1" y="0"/>
                </a:lnTo>
                <a:lnTo>
                  <a:pt x="261221" y="261222"/>
                </a:lnTo>
                <a:lnTo>
                  <a:pt x="0" y="261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6" name="TextBox 6"/>
          <p:cNvSpPr txBox="1"/>
          <p:nvPr/>
        </p:nvSpPr>
        <p:spPr>
          <a:xfrm>
            <a:off x="8253562" y="4858602"/>
            <a:ext cx="8510438" cy="1275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422"/>
              </a:lnSpc>
            </a:pPr>
            <a:r>
              <a:rPr lang="en-US" sz="10956" b="1" spc="-657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ESPECIALES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53562" y="3766852"/>
            <a:ext cx="7578368" cy="1431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422"/>
              </a:lnSpc>
            </a:pPr>
            <a:r>
              <a:rPr lang="en-US" sz="10956" spc="-65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BLOQUES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7427" y="4066173"/>
            <a:ext cx="7014846" cy="464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18% de probabilidad de aparecer en un bloque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Se muestran como @@ (color claro) o $$ (color oscuro)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Cuando se marcan, el specialThread expande la marca a todos los bloques conectados del mismo color usando BFS</a:t>
            </a:r>
          </a:p>
          <a:p>
            <a:pPr marL="604518" lvl="1" indent="-302259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Permite eliminar regiones grandes de un solo golpe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372885" y="1028700"/>
            <a:ext cx="8468365" cy="2182986"/>
            <a:chOff x="0" y="0"/>
            <a:chExt cx="1311971" cy="33820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11971" cy="338202"/>
            </a:xfrm>
            <a:custGeom>
              <a:avLst/>
              <a:gdLst/>
              <a:ahLst/>
              <a:cxnLst/>
              <a:rect l="l" t="t" r="r" b="b"/>
              <a:pathLst>
                <a:path w="1311971" h="338202">
                  <a:moveTo>
                    <a:pt x="0" y="0"/>
                  </a:moveTo>
                  <a:lnTo>
                    <a:pt x="1311971" y="0"/>
                  </a:lnTo>
                  <a:lnTo>
                    <a:pt x="1311971" y="338202"/>
                  </a:lnTo>
                  <a:lnTo>
                    <a:pt x="0" y="338202"/>
                  </a:lnTo>
                  <a:close/>
                </a:path>
              </a:pathLst>
            </a:custGeom>
            <a:blipFill>
              <a:blip r:embed="rId3"/>
              <a:stretch>
                <a:fillRect t="-80197" b="-80197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397830" cy="10287000"/>
            <a:chOff x="0" y="0"/>
            <a:chExt cx="19484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48400" cy="2709333"/>
            </a:xfrm>
            <a:custGeom>
              <a:avLst/>
              <a:gdLst/>
              <a:ahLst/>
              <a:cxnLst/>
              <a:rect l="l" t="t" r="r" b="b"/>
              <a:pathLst>
                <a:path w="1948400" h="2709333">
                  <a:moveTo>
                    <a:pt x="0" y="0"/>
                  </a:moveTo>
                  <a:lnTo>
                    <a:pt x="1948400" y="0"/>
                  </a:lnTo>
                  <a:lnTo>
                    <a:pt x="19484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948400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7033568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6" name="TextBox 6"/>
          <p:cNvSpPr txBox="1"/>
          <p:nvPr/>
        </p:nvSpPr>
        <p:spPr>
          <a:xfrm>
            <a:off x="1028700" y="8583085"/>
            <a:ext cx="6369130" cy="90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21"/>
              </a:lnSpc>
            </a:pPr>
            <a:r>
              <a:rPr lang="en-US" sz="6885" b="1" spc="-413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PUNTAJE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752752"/>
            <a:ext cx="6369130" cy="90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921"/>
              </a:lnSpc>
            </a:pPr>
            <a:r>
              <a:rPr lang="en-US" sz="6885" spc="-41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SISTEMA DE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10213" y="7404280"/>
            <a:ext cx="2749104" cy="370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599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DIFICULTAD 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11508" y="2455063"/>
            <a:ext cx="8947792" cy="552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9376" lvl="1" indent="-324688" algn="l">
              <a:lnSpc>
                <a:spcPts val="3609"/>
              </a:lnSpc>
              <a:buFont typeface="Arial"/>
              <a:buChar char="•"/>
            </a:pPr>
            <a:r>
              <a:rPr lang="en-US" sz="300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+10 punt</a:t>
            </a:r>
            <a:r>
              <a:rPr lang="en-US" sz="3007" u="none" strike="noStrik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os por cada cuadrado 2x2 eliminado</a:t>
            </a:r>
          </a:p>
          <a:p>
            <a:pPr marL="649376" lvl="1" indent="-324688" algn="l">
              <a:lnSpc>
                <a:spcPts val="3609"/>
              </a:lnSpc>
              <a:buFont typeface="Arial"/>
              <a:buChar char="•"/>
            </a:pPr>
            <a:r>
              <a:rPr lang="en-US" sz="3007" u="none" strike="noStrik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+5 puntos por cada celda adicional eliminada por la línea de tiempo</a:t>
            </a:r>
          </a:p>
          <a:p>
            <a:pPr marL="649376" lvl="1" indent="-324688" algn="l">
              <a:lnSpc>
                <a:spcPts val="3609"/>
              </a:lnSpc>
              <a:buFont typeface="Arial"/>
              <a:buChar char="•"/>
            </a:pPr>
            <a:r>
              <a:rPr lang="en-US" sz="3007" u="none" strike="noStrik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Bono de cadena cuando hay múltiples combos en un mismo barrido</a:t>
            </a:r>
          </a:p>
          <a:p>
            <a:pPr marL="649376" lvl="1" indent="-324688" algn="l">
              <a:lnSpc>
                <a:spcPts val="3609"/>
              </a:lnSpc>
              <a:buFont typeface="Arial"/>
              <a:buChar char="•"/>
            </a:pPr>
            <a:r>
              <a:rPr lang="en-US" sz="3007" u="none" strike="noStrik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La velocidad de caída y de la línea aumentan con el nivel</a:t>
            </a:r>
          </a:p>
          <a:p>
            <a:pPr marL="649376" lvl="1" indent="-324688" algn="l">
              <a:lnSpc>
                <a:spcPts val="3609"/>
              </a:lnSpc>
              <a:buFont typeface="Arial"/>
              <a:buChar char="•"/>
            </a:pPr>
            <a:r>
              <a:rPr lang="en-US" sz="3007" u="none" strike="noStrik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Modo lento: caída cada 720ms, línea cada 540ms</a:t>
            </a:r>
          </a:p>
          <a:p>
            <a:pPr marL="649376" lvl="1" indent="-324688" algn="l">
              <a:lnSpc>
                <a:spcPts val="3609"/>
              </a:lnSpc>
              <a:buFont typeface="Arial"/>
              <a:buChar char="•"/>
            </a:pPr>
            <a:r>
              <a:rPr lang="en-US" sz="3007" u="none" strike="noStrik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Modo rápido: caída cada 460ms, línea cada 310ms</a:t>
            </a:r>
          </a:p>
          <a:p>
            <a:pPr algn="l">
              <a:lnSpc>
                <a:spcPts val="3609"/>
              </a:lnSpc>
            </a:pPr>
            <a:endParaRPr lang="en-US" sz="3007" u="none" strike="noStrike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28700" y="1564753"/>
            <a:ext cx="6814555" cy="5153727"/>
            <a:chOff x="0" y="0"/>
            <a:chExt cx="697997" cy="52788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997" cy="527883"/>
            </a:xfrm>
            <a:custGeom>
              <a:avLst/>
              <a:gdLst/>
              <a:ahLst/>
              <a:cxnLst/>
              <a:rect l="l" t="t" r="r" b="b"/>
              <a:pathLst>
                <a:path w="697997" h="527883">
                  <a:moveTo>
                    <a:pt x="0" y="0"/>
                  </a:moveTo>
                  <a:lnTo>
                    <a:pt x="697997" y="0"/>
                  </a:lnTo>
                  <a:lnTo>
                    <a:pt x="697997" y="527883"/>
                  </a:lnTo>
                  <a:lnTo>
                    <a:pt x="0" y="527883"/>
                  </a:lnTo>
                  <a:close/>
                </a:path>
              </a:pathLst>
            </a:custGeom>
            <a:blipFill>
              <a:blip r:embed="rId3"/>
              <a:stretch>
                <a:fillRect l="-7185" r="-7185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080350" cy="10287000"/>
            <a:chOff x="0" y="0"/>
            <a:chExt cx="265490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54907" cy="2709333"/>
            </a:xfrm>
            <a:custGeom>
              <a:avLst/>
              <a:gdLst/>
              <a:ahLst/>
              <a:cxnLst/>
              <a:rect l="l" t="t" r="r" b="b"/>
              <a:pathLst>
                <a:path w="2654907" h="2709333">
                  <a:moveTo>
                    <a:pt x="0" y="0"/>
                  </a:moveTo>
                  <a:lnTo>
                    <a:pt x="2654907" y="0"/>
                  </a:lnTo>
                  <a:lnTo>
                    <a:pt x="265490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65490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109050" y="4191664"/>
            <a:ext cx="2540976" cy="2971434"/>
            <a:chOff x="0" y="0"/>
            <a:chExt cx="393664" cy="4603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3664" cy="460353"/>
            </a:xfrm>
            <a:custGeom>
              <a:avLst/>
              <a:gdLst/>
              <a:ahLst/>
              <a:cxnLst/>
              <a:rect l="l" t="t" r="r" b="b"/>
              <a:pathLst>
                <a:path w="393664" h="460353">
                  <a:moveTo>
                    <a:pt x="0" y="0"/>
                  </a:moveTo>
                  <a:lnTo>
                    <a:pt x="393664" y="0"/>
                  </a:lnTo>
                  <a:lnTo>
                    <a:pt x="393664" y="460353"/>
                  </a:lnTo>
                  <a:lnTo>
                    <a:pt x="0" y="460353"/>
                  </a:lnTo>
                  <a:close/>
                </a:path>
              </a:pathLst>
            </a:custGeom>
            <a:blipFill>
              <a:blip r:embed="rId2"/>
              <a:stretch>
                <a:fillRect t="-559" b="-559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7" name="Freeform 7"/>
          <p:cNvSpPr/>
          <p:nvPr/>
        </p:nvSpPr>
        <p:spPr>
          <a:xfrm>
            <a:off x="11109050" y="7563979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1" y="0"/>
                </a:lnTo>
                <a:lnTo>
                  <a:pt x="261221" y="261222"/>
                </a:lnTo>
                <a:lnTo>
                  <a:pt x="0" y="261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8" name="Group 8"/>
          <p:cNvGrpSpPr/>
          <p:nvPr/>
        </p:nvGrpSpPr>
        <p:grpSpPr>
          <a:xfrm>
            <a:off x="14678726" y="4191664"/>
            <a:ext cx="2540976" cy="2971434"/>
            <a:chOff x="0" y="0"/>
            <a:chExt cx="393664" cy="4603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93664" cy="460353"/>
            </a:xfrm>
            <a:custGeom>
              <a:avLst/>
              <a:gdLst/>
              <a:ahLst/>
              <a:cxnLst/>
              <a:rect l="l" t="t" r="r" b="b"/>
              <a:pathLst>
                <a:path w="393664" h="460353">
                  <a:moveTo>
                    <a:pt x="0" y="0"/>
                  </a:moveTo>
                  <a:lnTo>
                    <a:pt x="393664" y="0"/>
                  </a:lnTo>
                  <a:lnTo>
                    <a:pt x="393664" y="460353"/>
                  </a:lnTo>
                  <a:lnTo>
                    <a:pt x="0" y="460353"/>
                  </a:lnTo>
                  <a:close/>
                </a:path>
              </a:pathLst>
            </a:custGeom>
            <a:blipFill>
              <a:blip r:embed="rId4"/>
              <a:stretch>
                <a:fillRect l="-53947" r="-53947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2059301"/>
            <a:ext cx="9051650" cy="987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580"/>
              </a:lnSpc>
            </a:pPr>
            <a:r>
              <a:rPr lang="en-US" sz="7651" b="1" spc="-45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WINDOWS Y LINUX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980893"/>
            <a:ext cx="11087100" cy="1164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558"/>
              </a:lnSpc>
            </a:pPr>
            <a:r>
              <a:rPr lang="en-US" sz="9951" spc="-597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COMPATIBILIDAD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153564"/>
            <a:ext cx="7925107" cy="394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NO USA NCURSES NI LIBRERÍAS EXTERNAS</a:t>
            </a:r>
          </a:p>
          <a:p>
            <a:pPr marL="561339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USA CÓDIGOS ASCCI PARA DIBUJAR EN CONSOLA</a:t>
            </a:r>
          </a:p>
          <a:p>
            <a:pPr marL="561339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EN WINDOWS USA CONIO.H Y WINDOWS.H PARA EL TECLADO</a:t>
            </a:r>
          </a:p>
          <a:p>
            <a:pPr marL="561339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EN LINUX/WSL USA TERMIOS Y SELECT PARA INPUT NO BLOQUEANTE</a:t>
            </a:r>
          </a:p>
          <a:p>
            <a:pPr marL="561339" lvl="1" indent="-280669" algn="l">
              <a:lnSpc>
                <a:spcPts val="311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COMPILACIÓN: G++ -STD=C++17 SRC/MAIN.CPP -O LUMINES -PTHREAD</a:t>
            </a:r>
          </a:p>
          <a:p>
            <a:pPr marL="0" lvl="1" indent="0" algn="l">
              <a:lnSpc>
                <a:spcPts val="3119"/>
              </a:lnSpc>
            </a:pPr>
            <a:endParaRPr lang="en-US" sz="259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048774"/>
            <a:ext cx="18288000" cy="4238226"/>
            <a:chOff x="0" y="0"/>
            <a:chExt cx="4816593" cy="11162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116241"/>
            </a:xfrm>
            <a:custGeom>
              <a:avLst/>
              <a:gdLst/>
              <a:ahLst/>
              <a:cxnLst/>
              <a:rect l="l" t="t" r="r" b="b"/>
              <a:pathLst>
                <a:path w="4816592" h="1116241">
                  <a:moveTo>
                    <a:pt x="0" y="0"/>
                  </a:moveTo>
                  <a:lnTo>
                    <a:pt x="4816592" y="0"/>
                  </a:lnTo>
                  <a:lnTo>
                    <a:pt x="4816592" y="1116241"/>
                  </a:lnTo>
                  <a:lnTo>
                    <a:pt x="0" y="1116241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11448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73965" y="4343734"/>
            <a:ext cx="9814035" cy="5943266"/>
            <a:chOff x="0" y="0"/>
            <a:chExt cx="1651835" cy="100033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1835" cy="1000332"/>
            </a:xfrm>
            <a:custGeom>
              <a:avLst/>
              <a:gdLst/>
              <a:ahLst/>
              <a:cxnLst/>
              <a:rect l="l" t="t" r="r" b="b"/>
              <a:pathLst>
                <a:path w="1651835" h="1000332">
                  <a:moveTo>
                    <a:pt x="0" y="0"/>
                  </a:moveTo>
                  <a:lnTo>
                    <a:pt x="1651835" y="0"/>
                  </a:lnTo>
                  <a:lnTo>
                    <a:pt x="1651835" y="1000332"/>
                  </a:lnTo>
                  <a:lnTo>
                    <a:pt x="0" y="1000332"/>
                  </a:lnTo>
                  <a:close/>
                </a:path>
              </a:pathLst>
            </a:custGeom>
            <a:blipFill>
              <a:blip r:embed="rId2"/>
              <a:stretch>
                <a:fillRect t="-5008" b="-5008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4213123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1" y="0"/>
                </a:lnTo>
                <a:lnTo>
                  <a:pt x="261221" y="261221"/>
                </a:lnTo>
                <a:lnTo>
                  <a:pt x="0" y="2612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8" name="TextBox 8"/>
          <p:cNvSpPr txBox="1"/>
          <p:nvPr/>
        </p:nvSpPr>
        <p:spPr>
          <a:xfrm>
            <a:off x="1028700" y="2621184"/>
            <a:ext cx="14592300" cy="1655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232"/>
              </a:lnSpc>
            </a:pPr>
            <a:r>
              <a:rPr lang="en-US" sz="14224" b="1" spc="-853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Y RESULTADOS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158429"/>
            <a:ext cx="15659100" cy="16550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2232"/>
              </a:lnSpc>
            </a:pPr>
            <a:r>
              <a:rPr lang="en-US" sz="14224" spc="-853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DEMOSTRACIÓN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1745" y="4778642"/>
            <a:ext cx="6326427" cy="438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2699"/>
              </a:lnSpc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EL JUEGO CORRE CORRECTAMENTE CON LOS 8 HILOS EN PARALELO</a:t>
            </a:r>
          </a:p>
          <a:p>
            <a:pPr marL="582928" lvl="1" indent="-291464" algn="l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No se pr</a:t>
            </a:r>
            <a:r>
              <a:rPr lang="en-US" sz="2699" u="none" strike="noStrik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ESENTARON CONDICIONES DE CARRERA DURANTE LAS PRUEBAS</a:t>
            </a:r>
          </a:p>
          <a:p>
            <a:pPr marL="582928" lvl="1" indent="-291464" algn="l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u="none" strike="noStrik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EL AUTO-TEST (--SELF-TEST) VALIDA DETECCIÓN, PUNTAJE, BLOQUES ESPECIALES Y LÍNEA DE TIEMPO</a:t>
            </a:r>
          </a:p>
          <a:p>
            <a:pPr marL="582928" lvl="1" indent="-291464" algn="l">
              <a:lnSpc>
                <a:spcPts val="269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u="none" strike="noStrik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LOS PUNTAJES SE GUARDAN EN HIGH_SCORES.TXT</a:t>
            </a:r>
          </a:p>
          <a:p>
            <a:pPr marL="0" lvl="1" indent="0" algn="l">
              <a:lnSpc>
                <a:spcPts val="2699"/>
              </a:lnSpc>
              <a:spcBef>
                <a:spcPct val="0"/>
              </a:spcBef>
            </a:pPr>
            <a:endParaRPr lang="en-US" sz="2699" u="none" strike="noStrike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3742757"/>
            <a:chOff x="0" y="0"/>
            <a:chExt cx="4816593" cy="9857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85747"/>
            </a:xfrm>
            <a:custGeom>
              <a:avLst/>
              <a:gdLst/>
              <a:ahLst/>
              <a:cxnLst/>
              <a:rect l="l" t="t" r="r" b="b"/>
              <a:pathLst>
                <a:path w="4816592" h="985747">
                  <a:moveTo>
                    <a:pt x="0" y="0"/>
                  </a:moveTo>
                  <a:lnTo>
                    <a:pt x="4816592" y="0"/>
                  </a:lnTo>
                  <a:lnTo>
                    <a:pt x="4816592" y="985747"/>
                  </a:lnTo>
                  <a:lnTo>
                    <a:pt x="0" y="985747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6593" cy="1014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1037922"/>
            <a:ext cx="8115300" cy="8598879"/>
            <a:chOff x="0" y="0"/>
            <a:chExt cx="1889963" cy="20025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89963" cy="2002584"/>
            </a:xfrm>
            <a:custGeom>
              <a:avLst/>
              <a:gdLst/>
              <a:ahLst/>
              <a:cxnLst/>
              <a:rect l="l" t="t" r="r" b="b"/>
              <a:pathLst>
                <a:path w="1889963" h="2002584">
                  <a:moveTo>
                    <a:pt x="0" y="0"/>
                  </a:moveTo>
                  <a:lnTo>
                    <a:pt x="1889963" y="0"/>
                  </a:lnTo>
                  <a:lnTo>
                    <a:pt x="1889963" y="2002584"/>
                  </a:lnTo>
                  <a:lnTo>
                    <a:pt x="0" y="2002584"/>
                  </a:lnTo>
                  <a:close/>
                </a:path>
              </a:pathLst>
            </a:custGeom>
            <a:blipFill>
              <a:blip r:embed="rId2"/>
              <a:stretch>
                <a:fillRect l="-29469" r="-29469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2660399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1" y="0"/>
                </a:lnTo>
                <a:lnTo>
                  <a:pt x="261221" y="261222"/>
                </a:lnTo>
                <a:lnTo>
                  <a:pt x="0" y="261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8" name="TextBox 8"/>
          <p:cNvSpPr txBox="1"/>
          <p:nvPr/>
        </p:nvSpPr>
        <p:spPr>
          <a:xfrm>
            <a:off x="1028700" y="1857950"/>
            <a:ext cx="6344909" cy="93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r>
              <a:rPr lang="en-US" sz="7185" b="1" spc="-43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DEBILIDADES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036530"/>
            <a:ext cx="6344909" cy="93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79"/>
              </a:lnSpc>
            </a:pPr>
            <a:r>
              <a:rPr lang="en-US" sz="7185" spc="-43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FORTALEZAS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695132"/>
            <a:ext cx="7840556" cy="501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Fortalezas:</a:t>
            </a:r>
          </a:p>
          <a:p>
            <a:pPr marL="518155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Compatible con Windows y Linux sin librerías externas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Auto-test integrado que valida la lógica automáticamente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Sistema de niveles con dificultad progresiva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Debilidades:</a:t>
            </a:r>
          </a:p>
          <a:p>
            <a:pPr marL="518155" lvl="1" indent="-259078" algn="l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Un solo mutex global puede convertirse en cuello de botella si se escala el juego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El renderizado depende del mismo mutex, lo que podría causar micro-pausas visuales</a:t>
            </a:r>
          </a:p>
          <a:p>
            <a:pPr marL="518155" lvl="1" indent="-259078" algn="l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NNo implementa modo de dos jugadores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83115" y="0"/>
            <a:ext cx="2004885" cy="10287000"/>
            <a:chOff x="0" y="0"/>
            <a:chExt cx="5280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8036" cy="2709333"/>
            </a:xfrm>
            <a:custGeom>
              <a:avLst/>
              <a:gdLst/>
              <a:ahLst/>
              <a:cxnLst/>
              <a:rect l="l" t="t" r="r" b="b"/>
              <a:pathLst>
                <a:path w="528036" h="2709333">
                  <a:moveTo>
                    <a:pt x="0" y="0"/>
                  </a:moveTo>
                  <a:lnTo>
                    <a:pt x="528036" y="0"/>
                  </a:lnTo>
                  <a:lnTo>
                    <a:pt x="5280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280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016302" y="1470370"/>
            <a:ext cx="11135661" cy="1275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422"/>
              </a:lnSpc>
            </a:pPr>
            <a:r>
              <a:rPr lang="en-US" sz="10956" spc="-657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CONCLUSIONES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76169" y="3124864"/>
            <a:ext cx="11135662" cy="517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6" lvl="1" indent="-334643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La programación concurrente permite dividir responsabilidades en hilos especializados</a:t>
            </a:r>
          </a:p>
          <a:p>
            <a:pPr marL="669286" lvl="1" indent="-334643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El mutex es esencial para proteger el estado compartido</a:t>
            </a:r>
          </a:p>
          <a:p>
            <a:pPr marL="669286" lvl="1" indent="-334643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Los semáforos evitan espera activa y hacen el sistema más eficiente</a:t>
            </a:r>
          </a:p>
          <a:p>
            <a:pPr marL="669286" lvl="1" indent="-334643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La barrera de arranque garantiza un inicio ordenado y sincronizado</a:t>
            </a:r>
          </a:p>
          <a:p>
            <a:pPr marL="669286" lvl="1" indent="-334643" algn="l">
              <a:lnSpc>
                <a:spcPts val="371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El proyecto demuestra que sistemas complejos pueden implementarse con Pthreads</a:t>
            </a:r>
          </a:p>
          <a:p>
            <a:pPr algn="l">
              <a:lnSpc>
                <a:spcPts val="3719"/>
              </a:lnSpc>
            </a:pPr>
            <a:endParaRPr lang="en-US" sz="3099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3719"/>
              </a:lnSpc>
            </a:pPr>
            <a:endParaRPr lang="en-US" sz="3099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651885" cy="10287000"/>
            <a:chOff x="0" y="0"/>
            <a:chExt cx="96181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1813" cy="2709333"/>
            </a:xfrm>
            <a:custGeom>
              <a:avLst/>
              <a:gdLst/>
              <a:ahLst/>
              <a:cxnLst/>
              <a:rect l="l" t="t" r="r" b="b"/>
              <a:pathLst>
                <a:path w="961813" h="2709333">
                  <a:moveTo>
                    <a:pt x="0" y="0"/>
                  </a:moveTo>
                  <a:lnTo>
                    <a:pt x="961813" y="0"/>
                  </a:lnTo>
                  <a:lnTo>
                    <a:pt x="96181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961813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521717" y="4406694"/>
            <a:ext cx="261221" cy="261221"/>
          </a:xfrm>
          <a:custGeom>
            <a:avLst/>
            <a:gdLst/>
            <a:ahLst/>
            <a:cxnLst/>
            <a:rect l="l" t="t" r="r" b="b"/>
            <a:pathLst>
              <a:path w="261221" h="261221">
                <a:moveTo>
                  <a:pt x="0" y="0"/>
                </a:moveTo>
                <a:lnTo>
                  <a:pt x="261222" y="0"/>
                </a:lnTo>
                <a:lnTo>
                  <a:pt x="261222" y="261222"/>
                </a:lnTo>
                <a:lnTo>
                  <a:pt x="0" y="261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6" name="Group 6"/>
          <p:cNvGrpSpPr/>
          <p:nvPr/>
        </p:nvGrpSpPr>
        <p:grpSpPr>
          <a:xfrm>
            <a:off x="0" y="3676814"/>
            <a:ext cx="18288000" cy="6610186"/>
            <a:chOff x="0" y="0"/>
            <a:chExt cx="4180203" cy="151093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80203" cy="1510932"/>
            </a:xfrm>
            <a:custGeom>
              <a:avLst/>
              <a:gdLst/>
              <a:ahLst/>
              <a:cxnLst/>
              <a:rect l="l" t="t" r="r" b="b"/>
              <a:pathLst>
                <a:path w="4180203" h="1510932">
                  <a:moveTo>
                    <a:pt x="0" y="0"/>
                  </a:moveTo>
                  <a:lnTo>
                    <a:pt x="4180203" y="0"/>
                  </a:lnTo>
                  <a:lnTo>
                    <a:pt x="4180203" y="1510932"/>
                  </a:lnTo>
                  <a:lnTo>
                    <a:pt x="0" y="1510932"/>
                  </a:lnTo>
                  <a:close/>
                </a:path>
              </a:pathLst>
            </a:custGeom>
            <a:blipFill>
              <a:blip r:embed="rId3"/>
              <a:stretch>
                <a:fillRect t="-27619" b="-27619"/>
              </a:stretch>
            </a:blipFill>
          </p:spPr>
          <p:txBody>
            <a:bodyPr/>
            <a:lstStyle/>
            <a:p>
              <a:endParaRPr lang="es-GT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778409" y="1852561"/>
            <a:ext cx="6128591" cy="1178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8685"/>
              </a:lnSpc>
            </a:pPr>
            <a:r>
              <a:rPr lang="en-US" sz="10099" b="1" spc="-605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GRACIAS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78409" y="742149"/>
            <a:ext cx="5480891" cy="1310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85"/>
              </a:lnSpc>
            </a:pPr>
            <a:r>
              <a:rPr lang="en-US" sz="10099" spc="-605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MUCHAS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642</Words>
  <Application>Microsoft Office PowerPoint</Application>
  <PresentationFormat>Personalizado</PresentationFormat>
  <Paragraphs>92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Telegraf</vt:lpstr>
      <vt:lpstr>Arial</vt:lpstr>
      <vt:lpstr>Open Sauce Bold</vt:lpstr>
      <vt:lpstr>Telegraf Bold</vt:lpstr>
      <vt:lpstr>Open Sauce Light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Semiconductor Industry Presentation</dc:title>
  <cp:lastModifiedBy>CATUN CHACON, RONALD MANUEL</cp:lastModifiedBy>
  <cp:revision>2</cp:revision>
  <dcterms:created xsi:type="dcterms:W3CDTF">2006-08-16T00:00:00Z</dcterms:created>
  <dcterms:modified xsi:type="dcterms:W3CDTF">2026-06-03T04:58:42Z</dcterms:modified>
  <dc:identifier>DAHLebZ0r_w</dc:identifier>
</cp:coreProperties>
</file>